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8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89571" y="2736503"/>
            <a:ext cx="57823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dirty="0" err="1">
                <a:solidFill>
                  <a:srgbClr val="F8FAFC"/>
                </a:solidFill>
                <a:latin typeface="Aptos"/>
              </a:rPr>
              <a:t>Juegos</a:t>
            </a:r>
            <a:r>
              <a:rPr sz="3900" b="1" dirty="0">
                <a:solidFill>
                  <a:srgbClr val="F8FAFC"/>
                </a:solidFill>
                <a:latin typeface="Aptos"/>
              </a:rPr>
              <a:t> </a:t>
            </a:r>
            <a:r>
              <a:rPr sz="3900" b="1" dirty="0" err="1">
                <a:solidFill>
                  <a:srgbClr val="F8FAFC"/>
                </a:solidFill>
                <a:latin typeface="Aptos"/>
              </a:rPr>
              <a:t>multijugador</a:t>
            </a:r>
            <a:r>
              <a:rPr sz="3900" b="1" dirty="0">
                <a:solidFill>
                  <a:srgbClr val="F8FAFC"/>
                </a:solidFill>
                <a:latin typeface="Aptos"/>
              </a:rPr>
              <a:t>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9243" y="2413338"/>
            <a:ext cx="37933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5BB2E3"/>
                </a:solidFill>
                <a:latin typeface="Aptos"/>
              </a:rPr>
              <a:t>Sistemas</a:t>
            </a:r>
            <a:r>
              <a:rPr sz="1500" b="1" dirty="0">
                <a:solidFill>
                  <a:srgbClr val="5BB2E3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5BB2E3"/>
                </a:solidFill>
                <a:latin typeface="Aptos"/>
              </a:rPr>
              <a:t>Distribuidos</a:t>
            </a:r>
            <a:r>
              <a:rPr sz="1500" b="1" dirty="0">
                <a:solidFill>
                  <a:srgbClr val="5BB2E3"/>
                </a:solidFill>
                <a:latin typeface="Aptos"/>
              </a:rPr>
              <a:t> · </a:t>
            </a:r>
            <a:r>
              <a:rPr sz="1500" b="1" dirty="0" err="1">
                <a:solidFill>
                  <a:srgbClr val="5BB2E3"/>
                </a:solidFill>
                <a:latin typeface="Aptos"/>
              </a:rPr>
              <a:t>Investigación</a:t>
            </a:r>
            <a:r>
              <a:rPr sz="1500" b="1" dirty="0">
                <a:solidFill>
                  <a:srgbClr val="5BB2E3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5BB2E3"/>
                </a:solidFill>
                <a:latin typeface="Aptos"/>
              </a:rPr>
              <a:t>aplicada</a:t>
            </a:r>
            <a:endParaRPr sz="1500" b="1" dirty="0">
              <a:solidFill>
                <a:srgbClr val="5BB2E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1C4CB-4068-42D1-BF5E-2F93B2A84EE2}"/>
              </a:ext>
            </a:extLst>
          </p:cNvPr>
          <p:cNvSpPr txBox="1"/>
          <p:nvPr/>
        </p:nvSpPr>
        <p:spPr>
          <a:xfrm>
            <a:off x="10569742" y="6244390"/>
            <a:ext cx="16222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L" sz="1500" dirty="0">
                <a:solidFill>
                  <a:srgbClr val="F8FAFC"/>
                </a:solidFill>
                <a:latin typeface="Aptos"/>
              </a:rPr>
              <a:t>Felipe Castro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L" sz="1500" dirty="0">
                <a:solidFill>
                  <a:srgbClr val="F8FAFC"/>
                </a:solidFill>
                <a:latin typeface="Aptos"/>
              </a:rPr>
              <a:t>David Osorio</a:t>
            </a:r>
            <a:endParaRPr sz="1500" dirty="0">
              <a:solidFill>
                <a:srgbClr val="F8FA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dirty="0">
                <a:solidFill>
                  <a:srgbClr val="0D1C36"/>
                </a:solidFill>
                <a:latin typeface="Aptos"/>
              </a:rPr>
              <a:t>1.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Qué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problema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resuelve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7" y="1417320"/>
            <a:ext cx="3474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Un mundo compartido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15853"/>
            <a:ext cx="3108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192332"/>
                </a:solidFill>
                <a:latin typeface="Aptos"/>
              </a:rPr>
              <a:t>Varios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jugadores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deben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percibir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una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misma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partida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aunque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cada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uno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ejecute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el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juego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su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propia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máquina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447701"/>
            <a:ext cx="3474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Coordinación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21574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92332"/>
                </a:solidFill>
                <a:latin typeface="Aptos"/>
              </a:rPr>
              <a:t>Las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acciones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viajan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por una red: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moverse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disparar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recibir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daño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recoger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objetos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terminar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la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partida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417320"/>
            <a:ext cx="3474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Consistencia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1984248"/>
            <a:ext cx="32308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92332"/>
                </a:solidFill>
                <a:latin typeface="Aptos"/>
              </a:rPr>
              <a:t>El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sistema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debe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decidir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qué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estado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es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válido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comunicarlo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a los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clientes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sin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saturar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la 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78432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rgbClr val="0D1C36"/>
                </a:solidFill>
                <a:latin typeface="Aptos"/>
              </a:rPr>
              <a:t>¿Por </a:t>
            </a:r>
            <a:r>
              <a:rPr sz="2200" b="1" dirty="0" err="1">
                <a:solidFill>
                  <a:srgbClr val="0D1C36"/>
                </a:solidFill>
                <a:latin typeface="Aptos"/>
              </a:rPr>
              <a:t>qué</a:t>
            </a:r>
            <a:r>
              <a:rPr sz="2200" b="1" dirty="0">
                <a:solidFill>
                  <a:srgbClr val="0D1C36"/>
                </a:solidFill>
                <a:latin typeface="Aptos"/>
              </a:rPr>
              <a:t> no basta un solo </a:t>
            </a:r>
            <a:r>
              <a:rPr sz="2200" b="1" dirty="0" err="1">
                <a:solidFill>
                  <a:srgbClr val="0D1C36"/>
                </a:solidFill>
                <a:latin typeface="Aptos"/>
              </a:rPr>
              <a:t>computador</a:t>
            </a:r>
            <a:r>
              <a:rPr sz="22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7073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92332"/>
                </a:solidFill>
                <a:latin typeface="Aptos"/>
              </a:defRPr>
            </a:pPr>
            <a:r>
              <a:rPr dirty="0"/>
              <a:t>• Los </a:t>
            </a:r>
            <a:r>
              <a:rPr dirty="0" err="1"/>
              <a:t>jugadores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físicamente</a:t>
            </a:r>
            <a:r>
              <a:rPr dirty="0"/>
              <a:t> </a:t>
            </a:r>
            <a:r>
              <a:rPr dirty="0" err="1"/>
              <a:t>distribuidos</a:t>
            </a:r>
            <a:r>
              <a:rPr dirty="0"/>
              <a:t> y </a:t>
            </a:r>
            <a:r>
              <a:rPr dirty="0" err="1"/>
              <a:t>necesitan</a:t>
            </a:r>
            <a:r>
              <a:rPr dirty="0"/>
              <a:t> </a:t>
            </a:r>
            <a:r>
              <a:rPr dirty="0" err="1"/>
              <a:t>conectarse</a:t>
            </a:r>
            <a:r>
              <a:rPr dirty="0"/>
              <a:t> por Internet.</a:t>
            </a:r>
          </a:p>
          <a:p>
            <a:pPr>
              <a:spcAft>
                <a:spcPts val="500"/>
              </a:spcAft>
              <a:defRPr sz="1800">
                <a:solidFill>
                  <a:srgbClr val="192332"/>
                </a:solidFill>
                <a:latin typeface="Aptos"/>
              </a:defRPr>
            </a:pPr>
            <a:r>
              <a:rPr dirty="0"/>
              <a:t>• El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centraliza</a:t>
            </a:r>
            <a:r>
              <a:rPr dirty="0"/>
              <a:t> la </a:t>
            </a:r>
            <a:r>
              <a:rPr dirty="0" err="1"/>
              <a:t>lógica</a:t>
            </a:r>
            <a:r>
              <a:rPr dirty="0"/>
              <a:t> de la </a:t>
            </a:r>
            <a:r>
              <a:rPr dirty="0" err="1"/>
              <a:t>partida</a:t>
            </a:r>
            <a:r>
              <a:rPr dirty="0"/>
              <a:t> y </a:t>
            </a:r>
            <a:r>
              <a:rPr dirty="0" err="1"/>
              <a:t>coordina</a:t>
            </a:r>
            <a:r>
              <a:rPr dirty="0"/>
              <a:t> a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192332"/>
                </a:solidFill>
                <a:latin typeface="Aptos"/>
              </a:defRPr>
            </a:pPr>
            <a:r>
              <a:rPr dirty="0"/>
              <a:t>• El </a:t>
            </a:r>
            <a:r>
              <a:rPr dirty="0" err="1"/>
              <a:t>desafío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red introduce </a:t>
            </a:r>
            <a:r>
              <a:rPr dirty="0" err="1"/>
              <a:t>latencia</a:t>
            </a:r>
            <a:r>
              <a:rPr dirty="0"/>
              <a:t>, </a:t>
            </a:r>
            <a:r>
              <a:rPr dirty="0" err="1"/>
              <a:t>pérdida</a:t>
            </a:r>
            <a:r>
              <a:rPr dirty="0"/>
              <a:t> o </a:t>
            </a:r>
            <a:r>
              <a:rPr dirty="0" err="1"/>
              <a:t>variaciones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0D1C36"/>
                </a:solidFill>
                <a:latin typeface="Aptos"/>
              </a:rPr>
              <a:t>2. Nodos y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Arquitectura cliente-servidor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65960"/>
            <a:ext cx="2514600" cy="1417320"/>
          </a:xfrm>
          <a:prstGeom prst="roundRect">
            <a:avLst/>
          </a:prstGeom>
          <a:solidFill>
            <a:srgbClr val="E8EE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226771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C36"/>
                </a:solidFill>
                <a:latin typeface="Aptos"/>
              </a:rPr>
              <a:t>Jugador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965960"/>
            <a:ext cx="2514600" cy="1417320"/>
          </a:xfrm>
          <a:prstGeom prst="roundRect">
            <a:avLst/>
          </a:prstGeom>
          <a:solidFill>
            <a:srgbClr val="0D1C36"/>
          </a:solidFill>
          <a:ln>
            <a:solidFill>
              <a:srgbClr val="5BB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10328" y="226771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Servidor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B2E3"/>
                </a:solidFill>
                <a:latin typeface="Aptos"/>
              </a:rPr>
              <a:t>Estado autoritativo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965960"/>
            <a:ext cx="2514600" cy="1417320"/>
          </a:xfrm>
          <a:prstGeom prst="roundRect">
            <a:avLst/>
          </a:prstGeom>
          <a:solidFill>
            <a:srgbClr val="E8EE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42248" y="226771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C36"/>
                </a:solidFill>
                <a:latin typeface="Aptos"/>
              </a:rPr>
              <a:t>Jugador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Cliente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670048"/>
            <a:ext cx="1371600" cy="0"/>
          </a:xfrm>
          <a:prstGeom prst="line">
            <a:avLst/>
          </a:prstGeom>
          <a:ln w="3175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670048"/>
            <a:ext cx="1417320" cy="0"/>
          </a:xfrm>
          <a:prstGeom prst="line">
            <a:avLst/>
          </a:prstGeom>
          <a:ln w="3175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14173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80C1"/>
                </a:solidFill>
                <a:latin typeface="Aptos"/>
              </a:rPr>
              <a:t>Internet / red de acceso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71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971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estado / eventos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99811"/>
            <a:ext cx="1060704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923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Clientes</a:t>
            </a:r>
            <a:r>
              <a:rPr dirty="0"/>
              <a:t>: </a:t>
            </a:r>
            <a:r>
              <a:rPr dirty="0" err="1"/>
              <a:t>capturan</a:t>
            </a:r>
            <a:r>
              <a:rPr dirty="0"/>
              <a:t> input, </a:t>
            </a:r>
            <a:r>
              <a:rPr dirty="0" err="1"/>
              <a:t>renderizan</a:t>
            </a:r>
            <a:r>
              <a:rPr dirty="0"/>
              <a:t> y </a:t>
            </a:r>
            <a:r>
              <a:rPr dirty="0" err="1"/>
              <a:t>mantienen</a:t>
            </a:r>
            <a:r>
              <a:rPr dirty="0"/>
              <a:t> una </a:t>
            </a:r>
            <a:r>
              <a:rPr dirty="0" err="1"/>
              <a:t>aproximación</a:t>
            </a:r>
            <a:r>
              <a:rPr dirty="0"/>
              <a:t> del </a:t>
            </a:r>
            <a:r>
              <a:rPr dirty="0" err="1"/>
              <a:t>estado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1923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Servidor</a:t>
            </a:r>
            <a:r>
              <a:rPr dirty="0"/>
              <a:t>: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autoritativo</a:t>
            </a:r>
            <a:r>
              <a:rPr dirty="0"/>
              <a:t>, </a:t>
            </a:r>
            <a:r>
              <a:rPr dirty="0" err="1"/>
              <a:t>procesa</a:t>
            </a:r>
            <a:r>
              <a:rPr dirty="0"/>
              <a:t> </a:t>
            </a:r>
            <a:r>
              <a:rPr dirty="0" err="1"/>
              <a:t>reglas</a:t>
            </a:r>
            <a:r>
              <a:rPr dirty="0"/>
              <a:t> y </a:t>
            </a:r>
            <a:r>
              <a:rPr dirty="0" err="1"/>
              <a:t>distribuye</a:t>
            </a:r>
            <a:r>
              <a:rPr dirty="0"/>
              <a:t> </a:t>
            </a:r>
            <a:r>
              <a:rPr dirty="0" err="1"/>
              <a:t>actualizaciones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192332"/>
                </a:solidFill>
                <a:latin typeface="Aptos"/>
              </a:defRPr>
            </a:pPr>
            <a:r>
              <a:rPr dirty="0"/>
              <a:t>• Red: </a:t>
            </a:r>
            <a:r>
              <a:rPr dirty="0" err="1"/>
              <a:t>transporta</a:t>
            </a:r>
            <a:r>
              <a:rPr dirty="0"/>
              <a:t> </a:t>
            </a:r>
            <a:r>
              <a:rPr dirty="0" err="1"/>
              <a:t>mensajes</a:t>
            </a:r>
            <a:r>
              <a:rPr lang="es-CL" dirty="0"/>
              <a:t>,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latencia</a:t>
            </a:r>
            <a:r>
              <a:rPr dirty="0"/>
              <a:t> y </a:t>
            </a:r>
            <a:r>
              <a:rPr dirty="0" err="1"/>
              <a:t>pérdida</a:t>
            </a:r>
            <a:r>
              <a:rPr dirty="0"/>
              <a:t> </a:t>
            </a:r>
            <a:r>
              <a:rPr dirty="0" err="1"/>
              <a:t>afectan</a:t>
            </a:r>
            <a:r>
              <a:rPr dirty="0"/>
              <a:t> la </a:t>
            </a:r>
            <a:r>
              <a:rPr dirty="0" err="1"/>
              <a:t>experiencia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98942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0D1C36"/>
                </a:solidFill>
                <a:latin typeface="Aptos"/>
              </a:rPr>
              <a:t>3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.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Cómo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se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comunican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Mensajes entre clientes y servidor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965960" cy="1828800"/>
          </a:xfrm>
          <a:prstGeom prst="roundRect">
            <a:avLst/>
          </a:prstGeom>
          <a:solidFill>
            <a:srgbClr val="E8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80C1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" y="2006386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0D1C3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542032"/>
            <a:ext cx="1907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192332"/>
                </a:solidFill>
                <a:latin typeface="Aptos"/>
              </a:rPr>
              <a:t>Jugador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presiona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disparar</a:t>
            </a:r>
            <a:endParaRPr sz="1200" b="0" dirty="0">
              <a:solidFill>
                <a:srgbClr val="19233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7752" y="24871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80C1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828800"/>
            <a:ext cx="1965960" cy="1828800"/>
          </a:xfrm>
          <a:prstGeom prst="roundRect">
            <a:avLst/>
          </a:prstGeom>
          <a:solidFill>
            <a:srgbClr val="EFF7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9933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80C1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3625" y="2006386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D1C36"/>
                </a:solidFill>
                <a:latin typeface="Aptos"/>
              </a:rPr>
              <a:t>Envío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46604"/>
            <a:ext cx="1691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192332"/>
                </a:solidFill>
                <a:latin typeface="Aptos"/>
              </a:rPr>
              <a:t>Cliente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transmite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una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acción</a:t>
            </a:r>
            <a:endParaRPr sz="1200" b="0" dirty="0">
              <a:solidFill>
                <a:srgbClr val="1923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92040" y="24871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80C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828800"/>
            <a:ext cx="1965960" cy="1828800"/>
          </a:xfrm>
          <a:prstGeom prst="roundRect">
            <a:avLst/>
          </a:prstGeom>
          <a:solidFill>
            <a:srgbClr val="E8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0096" y="19933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80C1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6" y="2001573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 err="1">
                <a:solidFill>
                  <a:srgbClr val="0D1C36"/>
                </a:solidFill>
                <a:latin typeface="Aptos"/>
              </a:rPr>
              <a:t>Simulación</a:t>
            </a:r>
            <a:endParaRPr sz="1600" b="1" dirty="0">
              <a:solidFill>
                <a:srgbClr val="0D1C3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3520" y="2542032"/>
            <a:ext cx="1834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192332"/>
                </a:solidFill>
                <a:latin typeface="Aptos"/>
              </a:rPr>
              <a:t>Servidor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valida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actualiza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el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estado</a:t>
            </a:r>
            <a:endParaRPr sz="1200" b="0" dirty="0">
              <a:solidFill>
                <a:srgbClr val="19233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4871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80C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1828800"/>
            <a:ext cx="1965960" cy="1828800"/>
          </a:xfrm>
          <a:prstGeom prst="roundRect">
            <a:avLst/>
          </a:prstGeom>
          <a:solidFill>
            <a:srgbClr val="EFF7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4384" y="19933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80C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9852" y="2001573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 err="1">
                <a:solidFill>
                  <a:srgbClr val="0D1C36"/>
                </a:solidFill>
                <a:latin typeface="Aptos"/>
              </a:rPr>
              <a:t>Replicación</a:t>
            </a:r>
            <a:endParaRPr sz="1600" b="1" dirty="0">
              <a:solidFill>
                <a:srgbClr val="0D1C3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44384" y="2542032"/>
            <a:ext cx="1797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192332"/>
                </a:solidFill>
                <a:latin typeface="Aptos"/>
              </a:rPr>
              <a:t>Servidor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envía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cambios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relevantes</a:t>
            </a:r>
            <a:endParaRPr sz="1200" b="0" dirty="0">
              <a:solidFill>
                <a:srgbClr val="19233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00616" y="24871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80C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11512" y="1828800"/>
            <a:ext cx="1965960" cy="1828800"/>
          </a:xfrm>
          <a:prstGeom prst="roundRect">
            <a:avLst/>
          </a:prstGeom>
          <a:solidFill>
            <a:srgbClr val="E8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48672" y="19933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80C1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3635" y="199748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0D1C36"/>
                </a:solidFill>
                <a:latin typeface="Aptos"/>
              </a:rPr>
              <a:t>Render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542032"/>
            <a:ext cx="1770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192332"/>
                </a:solidFill>
                <a:latin typeface="Aptos"/>
              </a:rPr>
              <a:t>Cliente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muestra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el</a:t>
            </a:r>
            <a:r>
              <a:rPr sz="12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92332"/>
                </a:solidFill>
                <a:latin typeface="Aptos"/>
              </a:rPr>
              <a:t>resultado</a:t>
            </a:r>
            <a:endParaRPr sz="1200" b="0" dirty="0">
              <a:solidFill>
                <a:srgbClr val="19233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D1C36"/>
                </a:solidFill>
                <a:latin typeface="Aptos"/>
              </a:rPr>
              <a:t>Síncrono vs. asíncrono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En una red real, no se puede asumir que una respuesta llegará inmediatamente.</a:t>
            </a:r>
          </a:p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El diseño debe tolerar mensajes retrasados, perdidos o repetidos.</a:t>
            </a:r>
          </a:p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El estado replicado permite que cada cliente mantenga una visión local de la partida.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286168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F8FAFC"/>
                </a:solidFill>
                <a:latin typeface="Aptos"/>
              </a:rPr>
              <a:t>4</a:t>
            </a:r>
            <a:r>
              <a:rPr sz="2900" b="1" dirty="0">
                <a:solidFill>
                  <a:srgbClr val="F8FAFC"/>
                </a:solidFill>
                <a:latin typeface="Aptos"/>
              </a:rPr>
              <a:t>. ¿</a:t>
            </a:r>
            <a:r>
              <a:rPr sz="2900" b="1" dirty="0" err="1">
                <a:solidFill>
                  <a:srgbClr val="F8FAFC"/>
                </a:solidFill>
                <a:latin typeface="Aptos"/>
              </a:rPr>
              <a:t>Qué</a:t>
            </a:r>
            <a:r>
              <a:rPr sz="2900" b="1" dirty="0">
                <a:solidFill>
                  <a:srgbClr val="F8FAFC"/>
                </a:solidFill>
                <a:latin typeface="Aptos"/>
              </a:rPr>
              <a:t> es </a:t>
            </a:r>
            <a:r>
              <a:rPr sz="2900" b="1" dirty="0" err="1">
                <a:solidFill>
                  <a:srgbClr val="F8FAFC"/>
                </a:solidFill>
                <a:latin typeface="Aptos"/>
              </a:rPr>
              <a:t>el</a:t>
            </a:r>
            <a:r>
              <a:rPr sz="2900" b="1" dirty="0">
                <a:solidFill>
                  <a:srgbClr val="F8FAFC"/>
                </a:solidFill>
                <a:latin typeface="Aptos"/>
              </a:rPr>
              <a:t> lag?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BB2E3"/>
                </a:solidFill>
                <a:latin typeface="Aptos"/>
              </a:rPr>
              <a:t>La ausencia de reloj global hecha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3969" y="174481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 err="1">
                <a:solidFill>
                  <a:srgbClr val="F8FAFC"/>
                </a:solidFill>
                <a:latin typeface="Aptos"/>
              </a:rPr>
              <a:t>Jugador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5769" y="181965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 err="1">
                <a:solidFill>
                  <a:srgbClr val="F8FAFC"/>
                </a:solidFill>
                <a:latin typeface="Aptos"/>
              </a:rPr>
              <a:t>Servidor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12680" y="1828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 err="1">
                <a:solidFill>
                  <a:srgbClr val="F8FAFC"/>
                </a:solidFill>
                <a:latin typeface="Aptos"/>
              </a:rPr>
              <a:t>Jugador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898" y="2327871"/>
            <a:ext cx="55656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5BB2E3"/>
                </a:solidFill>
                <a:latin typeface="Aptos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53163" y="243447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251460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5564" y="3059390"/>
            <a:ext cx="70923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5BB2E3"/>
                </a:solidFill>
                <a:latin typeface="Aptos"/>
              </a:rPr>
              <a:t>Llegada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3163" y="316599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324612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4930" y="3790911"/>
            <a:ext cx="89050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5BB2E3"/>
                </a:solidFill>
                <a:latin typeface="Aptos"/>
              </a:rPr>
              <a:t>Respuesta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53163" y="3897509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3977639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2816" y="4522431"/>
            <a:ext cx="87472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5BB2E3"/>
                </a:solidFill>
                <a:latin typeface="Aptos"/>
              </a:rPr>
              <a:t>Resultado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53163" y="462903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4709160"/>
            <a:ext cx="914400" cy="0"/>
          </a:xfrm>
          <a:prstGeom prst="line">
            <a:avLst/>
          </a:prstGeom>
          <a:ln w="254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54029" y="223871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3344" y="29260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7197" y="3790911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5BB2E3"/>
                </a:solidFill>
                <a:latin typeface="Aptos"/>
              </a:rP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5953" y="5464743"/>
            <a:ext cx="49096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 err="1">
                <a:solidFill>
                  <a:srgbClr val="F8FAFC"/>
                </a:solidFill>
                <a:latin typeface="Aptos"/>
              </a:rPr>
              <a:t>Latencia</a:t>
            </a:r>
            <a:r>
              <a:rPr sz="1700" b="1" dirty="0">
                <a:solidFill>
                  <a:srgbClr val="F8FAFC"/>
                </a:solidFill>
                <a:latin typeface="Aptos"/>
              </a:rPr>
              <a:t> / ping = </a:t>
            </a:r>
            <a:r>
              <a:rPr sz="1700" b="1" dirty="0" err="1">
                <a:solidFill>
                  <a:srgbClr val="F8FAFC"/>
                </a:solidFill>
                <a:latin typeface="Aptos"/>
              </a:rPr>
              <a:t>tiempo</a:t>
            </a:r>
            <a:r>
              <a:rPr sz="1700" b="1" dirty="0">
                <a:solidFill>
                  <a:srgbClr val="F8FAFC"/>
                </a:solidFill>
                <a:latin typeface="Aptos"/>
              </a:rPr>
              <a:t> de </a:t>
            </a:r>
            <a:r>
              <a:rPr sz="1700" b="1" dirty="0" err="1">
                <a:solidFill>
                  <a:srgbClr val="F8FAFC"/>
                </a:solidFill>
                <a:latin typeface="Aptos"/>
              </a:rPr>
              <a:t>viaje</a:t>
            </a:r>
            <a:r>
              <a:rPr sz="1700" b="1" dirty="0">
                <a:solidFill>
                  <a:srgbClr val="F8FAFC"/>
                </a:solidFill>
                <a:latin typeface="Aptos"/>
              </a:rPr>
              <a:t> de la </a:t>
            </a:r>
            <a:r>
              <a:rPr sz="1700" b="1" dirty="0" err="1">
                <a:solidFill>
                  <a:srgbClr val="F8FAFC"/>
                </a:solidFill>
                <a:latin typeface="Aptos"/>
              </a:rPr>
              <a:t>comunicación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7C1A12-1EF5-4CAA-9C47-93A262D8D137}"/>
              </a:ext>
            </a:extLst>
          </p:cNvPr>
          <p:cNvSpPr txBox="1"/>
          <p:nvPr/>
        </p:nvSpPr>
        <p:spPr>
          <a:xfrm>
            <a:off x="6381549" y="44119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5BB2E3"/>
                </a:solidFill>
                <a:latin typeface="Aptos"/>
              </a:rPr>
              <a:t>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83196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0D1C36"/>
                </a:solidFill>
                <a:latin typeface="Aptos"/>
              </a:rPr>
              <a:t>5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.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Cómo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se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manifiesta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el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lag?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Síntomas que el jugador percibe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C36"/>
                </a:solidFill>
                <a:latin typeface="Aptos"/>
              </a:rPr>
              <a:t>Ping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7" y="2075688"/>
            <a:ext cx="30133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Las acciones tardan más en llegar y volver.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08760"/>
            <a:ext cx="34290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7" y="1673351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C36"/>
                </a:solidFill>
                <a:latin typeface="Aptos"/>
              </a:rPr>
              <a:t>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075688"/>
            <a:ext cx="29525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La latencia varía: una acción responde rápido y otra tarde.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673351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C36"/>
                </a:solidFill>
                <a:latin typeface="Aptos"/>
              </a:rPr>
              <a:t>Pérdida de paquetes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075688"/>
            <a:ext cx="30815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192332"/>
                </a:solidFill>
                <a:latin typeface="Aptos"/>
              </a:rPr>
              <a:t>Algunos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mensajes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no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llegan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;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pueden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aparecer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cortes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o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estados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desactualizados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4290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730752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C36"/>
                </a:solidFill>
                <a:latin typeface="Aptos"/>
              </a:rPr>
              <a:t>Desincronización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33087"/>
            <a:ext cx="32278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El cliente muestra temporalmente algo distinto del estado del servidor.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2748" y="3538729"/>
            <a:ext cx="34290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7" y="3730752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C36"/>
                </a:solidFill>
                <a:latin typeface="Aptos"/>
              </a:rPr>
              <a:t>Rubber-banding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7" y="4133087"/>
            <a:ext cx="32278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92332"/>
                </a:solidFill>
                <a:latin typeface="Aptos"/>
              </a:rPr>
              <a:t>El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personaje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parece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avanzar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luego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“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volver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” a una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posición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corregida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C36"/>
                </a:solidFill>
                <a:latin typeface="Aptos"/>
              </a:rPr>
              <a:t>Importante: desde fuera, un nodo lento y uno caído pueden verse iguales: simplemente no responde.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6600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0D1C36"/>
                </a:solidFill>
                <a:latin typeface="Aptos"/>
              </a:rPr>
              <a:t>6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.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Cómo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se reduce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el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impacto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 err="1">
                <a:solidFill>
                  <a:srgbClr val="5B6573"/>
                </a:solidFill>
                <a:latin typeface="Aptos"/>
              </a:rPr>
              <a:t>Técnicas</a:t>
            </a:r>
            <a:r>
              <a:rPr sz="1300" b="0" dirty="0">
                <a:solidFill>
                  <a:srgbClr val="5B6573"/>
                </a:solidFill>
                <a:latin typeface="Aptos"/>
              </a:rPr>
              <a:t> para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mantener</a:t>
            </a:r>
            <a:r>
              <a:rPr sz="1300" b="0" dirty="0">
                <a:solidFill>
                  <a:srgbClr val="5B6573"/>
                </a:solidFill>
                <a:latin typeface="Aptos"/>
              </a:rPr>
              <a:t> una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experiencia</a:t>
            </a:r>
            <a:r>
              <a:rPr sz="1300" b="0" dirty="0">
                <a:solidFill>
                  <a:srgbClr val="5B6573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jugable</a:t>
            </a:r>
            <a:endParaRPr sz="1300" b="0" dirty="0">
              <a:solidFill>
                <a:srgbClr val="5B6573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Client-side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2224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El cliente anticipa el resultado de acciones locales para que el control se sienta inmediato.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Interpolation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1850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192332"/>
                </a:solidFill>
                <a:latin typeface="Aptos"/>
              </a:rPr>
              <a:t>Suaviza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movimientos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entre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actualizaciones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recibidas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evitando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saltos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visuales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1581912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Lag compensation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1984248"/>
            <a:ext cx="32005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El servidor puede compensar parte del retraso al resolver acciones como disparos.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1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Replication selectiva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24528"/>
            <a:ext cx="3273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92332"/>
                </a:solidFill>
                <a:latin typeface="Aptos"/>
              </a:rPr>
              <a:t>No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todo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debe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enviarse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a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todos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: se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prioriza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información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relevante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para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cada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cliente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65760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822191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Tickrate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24528"/>
            <a:ext cx="318505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92332"/>
                </a:solidFill>
                <a:latin typeface="Aptos"/>
              </a:rPr>
              <a:t>El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servidor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actualiza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/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simula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en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pasos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discretos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 Más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frecuencia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puede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mejorar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precisión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pero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aumenta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92332"/>
                </a:solidFill>
                <a:latin typeface="Aptos"/>
              </a:rPr>
              <a:t>costo</a:t>
            </a:r>
            <a:r>
              <a:rPr sz="13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365760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2" y="3822191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C36"/>
                </a:solidFill>
                <a:latin typeface="Aptos"/>
              </a:rPr>
              <a:t>Predicción ≠ autoridad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4224528"/>
            <a:ext cx="3154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92332"/>
                </a:solidFill>
                <a:latin typeface="Aptos"/>
              </a:rPr>
              <a:t>La predicción local no cambia la verdad del juego: el servidor sigue siendo la referencia.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90518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0D1C36"/>
                </a:solidFill>
                <a:latin typeface="Aptos"/>
              </a:rPr>
              <a:t>7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.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Qué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falla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y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cómo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se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tolera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1C36"/>
                </a:solidFill>
                <a:latin typeface="Aptos"/>
              </a:rPr>
              <a:t>Caso: el cliente pierde conexión con el servidor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2377440" cy="1097280"/>
          </a:xfrm>
          <a:prstGeom prst="roundRect">
            <a:avLst/>
          </a:prstGeom>
          <a:solidFill>
            <a:srgbClr val="E8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D1C36"/>
                </a:solidFill>
                <a:latin typeface="Aptos"/>
              </a:rPr>
              <a:t>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148840"/>
            <a:ext cx="2377440" cy="1097280"/>
          </a:xfrm>
          <a:prstGeom prst="roundRect">
            <a:avLst/>
          </a:prstGeom>
          <a:solidFill>
            <a:srgbClr val="EFF7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24871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D1C36"/>
                </a:solidFill>
                <a:latin typeface="Aptos"/>
              </a:rPr>
              <a:t>Servidor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148840"/>
            <a:ext cx="2377440" cy="1097280"/>
          </a:xfrm>
          <a:prstGeom prst="roundRect">
            <a:avLst/>
          </a:prstGeom>
          <a:solidFill>
            <a:srgbClr val="E8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24871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D1C36"/>
                </a:solidFill>
                <a:latin typeface="Aptos"/>
              </a:rPr>
              <a:t>Otros clientes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697480"/>
            <a:ext cx="1463040" cy="0"/>
          </a:xfrm>
          <a:prstGeom prst="line">
            <a:avLst/>
          </a:prstGeom>
          <a:ln w="38100">
            <a:solidFill>
              <a:srgbClr val="DC46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0" y="218084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DC4646"/>
                </a:solidFill>
                <a:latin typeface="Aptos"/>
              </a:rPr>
              <a:t>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697480"/>
            <a:ext cx="1463040" cy="0"/>
          </a:xfrm>
          <a:prstGeom prst="line">
            <a:avLst/>
          </a:prstGeom>
          <a:ln w="38100">
            <a:solidFill>
              <a:srgbClr val="1E8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749039"/>
            <a:ext cx="10424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El servidor puede continuar la partida para los demás clientes.</a:t>
            </a:r>
          </a:p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El cliente desconectado no puede asumir que su último estado es válido.</a:t>
            </a:r>
          </a:p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Timeouts, reconexión y estados de sesión permiten manejar fallos parciales.</a:t>
            </a:r>
          </a:p>
          <a:p>
            <a:pPr>
              <a:spcAft>
                <a:spcPts val="500"/>
              </a:spcAft>
              <a:defRPr sz="1600">
                <a:solidFill>
                  <a:srgbClr val="192332"/>
                </a:solidFill>
                <a:latin typeface="Aptos"/>
              </a:defRPr>
            </a:pPr>
            <a:r>
              <a:t>• El diseño distribuido debe considerar que “no responde” no distingue por sí solo entre lento, caído o respuesta perdida.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60666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CL" sz="2900" b="1" dirty="0">
                <a:solidFill>
                  <a:srgbClr val="0D1C36"/>
                </a:solidFill>
                <a:latin typeface="Aptos"/>
              </a:rPr>
              <a:t>8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.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Incidente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real: ¿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qué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nos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0D1C36"/>
                </a:solidFill>
                <a:latin typeface="Aptos"/>
              </a:rPr>
              <a:t>enseña</a:t>
            </a:r>
            <a:r>
              <a:rPr sz="2900" b="1" dirty="0">
                <a:solidFill>
                  <a:srgbClr val="0D1C36"/>
                </a:solidFill>
                <a:latin typeface="Aptos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75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5B6573"/>
                </a:solidFill>
                <a:latin typeface="Aptos"/>
              </a:rPr>
              <a:t>La red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como</a:t>
            </a:r>
            <a:r>
              <a:rPr sz="1300" b="0" dirty="0">
                <a:solidFill>
                  <a:srgbClr val="5B6573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parte</a:t>
            </a:r>
            <a:r>
              <a:rPr sz="1300" b="0" dirty="0">
                <a:solidFill>
                  <a:srgbClr val="5B6573"/>
                </a:solidFill>
                <a:latin typeface="Aptos"/>
              </a:rPr>
              <a:t> del </a:t>
            </a:r>
            <a:r>
              <a:rPr sz="1300" b="0" dirty="0" err="1">
                <a:solidFill>
                  <a:srgbClr val="5B6573"/>
                </a:solidFill>
                <a:latin typeface="Aptos"/>
              </a:rPr>
              <a:t>sistema</a:t>
            </a:r>
            <a:endParaRPr sz="1300" b="0" dirty="0">
              <a:solidFill>
                <a:srgbClr val="5B6573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337735" y="1804496"/>
            <a:ext cx="8021453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38904" y="1969088"/>
            <a:ext cx="74913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0D1C36"/>
                </a:solidFill>
                <a:latin typeface="Aptos"/>
              </a:rPr>
              <a:t>Un </a:t>
            </a:r>
            <a:r>
              <a:rPr sz="1900" b="1" dirty="0" err="1">
                <a:solidFill>
                  <a:srgbClr val="0D1C36"/>
                </a:solidFill>
                <a:latin typeface="Aptos"/>
              </a:rPr>
              <a:t>fallo</a:t>
            </a:r>
            <a:r>
              <a:rPr sz="1900" b="1" dirty="0">
                <a:solidFill>
                  <a:srgbClr val="0D1C36"/>
                </a:solidFill>
                <a:latin typeface="Aptos"/>
              </a:rPr>
              <a:t> no </a:t>
            </a:r>
            <a:r>
              <a:rPr sz="1900" b="1" dirty="0" err="1">
                <a:solidFill>
                  <a:srgbClr val="0D1C36"/>
                </a:solidFill>
                <a:latin typeface="Aptos"/>
              </a:rPr>
              <a:t>tiene</a:t>
            </a:r>
            <a:r>
              <a:rPr sz="1900" b="1" dirty="0">
                <a:solidFill>
                  <a:srgbClr val="0D1C36"/>
                </a:solidFill>
                <a:latin typeface="Aptos"/>
              </a:rPr>
              <a:t> que </a:t>
            </a:r>
            <a:r>
              <a:rPr sz="1900" b="1" dirty="0" err="1">
                <a:solidFill>
                  <a:srgbClr val="0D1C36"/>
                </a:solidFill>
                <a:latin typeface="Aptos"/>
              </a:rPr>
              <a:t>destruir</a:t>
            </a:r>
            <a:r>
              <a:rPr sz="1900" b="1" dirty="0">
                <a:solidFill>
                  <a:srgbClr val="0D1C36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D1C36"/>
                </a:solidFill>
                <a:latin typeface="Aptos"/>
              </a:rPr>
              <a:t>todos</a:t>
            </a:r>
            <a:r>
              <a:rPr sz="1900" b="1" dirty="0">
                <a:solidFill>
                  <a:srgbClr val="0D1C36"/>
                </a:solidFill>
                <a:latin typeface="Aptos"/>
              </a:rPr>
              <a:t> los </a:t>
            </a:r>
            <a:r>
              <a:rPr sz="1900" b="1" dirty="0" err="1">
                <a:solidFill>
                  <a:srgbClr val="0D1C36"/>
                </a:solidFill>
                <a:latin typeface="Aptos"/>
              </a:rPr>
              <a:t>nodos</a:t>
            </a:r>
            <a:endParaRPr sz="1900" b="1" dirty="0">
              <a:solidFill>
                <a:srgbClr val="0D1C3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55677" y="2690336"/>
            <a:ext cx="70745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192332"/>
                </a:solidFill>
                <a:latin typeface="Aptos"/>
              </a:rPr>
              <a:t>En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sistema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distribuido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, una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puede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fallar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mientras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el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resto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sigue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funcionando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.
</a:t>
            </a:r>
            <a:endParaRPr lang="es-CL" sz="1500" b="0" dirty="0">
              <a:solidFill>
                <a:srgbClr val="192332"/>
              </a:solidFill>
              <a:latin typeface="Aptos"/>
            </a:endParaRPr>
          </a:p>
          <a:p>
            <a:r>
              <a:rPr sz="1500" b="0" dirty="0" err="1">
                <a:solidFill>
                  <a:srgbClr val="192332"/>
                </a:solidFill>
                <a:latin typeface="Aptos"/>
              </a:rPr>
              <a:t>En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juegos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online,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esto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se traduce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en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desconexiones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estados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desactualizados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, colas,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migraciones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sesión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partidas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que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continúan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sin un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jugador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.
</a:t>
            </a:r>
            <a:endParaRPr lang="es-CL" sz="1500" b="0" dirty="0">
              <a:solidFill>
                <a:srgbClr val="192332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192332"/>
                </a:solidFill>
                <a:latin typeface="Aptos"/>
              </a:rPr>
              <a:t>La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lección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central del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ramo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el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fallo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parcial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es normal y debe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formar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 del </a:t>
            </a:r>
            <a:r>
              <a:rPr sz="1500" b="0" dirty="0" err="1">
                <a:solidFill>
                  <a:srgbClr val="192332"/>
                </a:solidFill>
                <a:latin typeface="Aptos"/>
              </a:rPr>
              <a:t>diseño</a:t>
            </a:r>
            <a:r>
              <a:rPr sz="1500" b="0" dirty="0">
                <a:solidFill>
                  <a:srgbClr val="19233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719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David Osorio</cp:lastModifiedBy>
  <cp:revision>5</cp:revision>
  <dcterms:created xsi:type="dcterms:W3CDTF">2013-01-27T09:14:16Z</dcterms:created>
  <dcterms:modified xsi:type="dcterms:W3CDTF">2026-09-10T21:16:13Z</dcterms:modified>
  <cp:category/>
</cp:coreProperties>
</file>